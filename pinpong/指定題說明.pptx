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7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59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C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7" autoAdjust="0"/>
  </p:normalViewPr>
  <p:slideViewPr>
    <p:cSldViewPr snapToGrid="0">
      <p:cViewPr varScale="1">
        <p:scale>
          <a:sx n="104" d="100"/>
          <a:sy n="104" d="100"/>
        </p:scale>
        <p:origin x="870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6D300305-074B-42A7-8BB9-AB6CE621A9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2FF3AB2-9DF3-40B7-872D-7F9511E388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49727-1053-42A5-B27F-443C451A6805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8804851-457B-42D3-9DE3-22C4125B3E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EB6F320-38DF-4C38-B928-5C8AC9F3CE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471F0-6BE6-4385-9D5D-4D393F66F0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51432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46ECC-D1A5-4190-8DA9-7E0F64F9D479}" type="datetimeFigureOut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D74B7-DAB4-4A42-B17E-3845ACB24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333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dones</a:t>
            </a:r>
            <a:r>
              <a:rPr lang="zh-TW" altLang="en-US" dirty="0"/>
              <a:t>這一步結束後是否 </a:t>
            </a:r>
            <a:r>
              <a:rPr lang="en-US" altLang="zh-TW" dirty="0"/>
              <a:t>episode </a:t>
            </a:r>
            <a:r>
              <a:rPr lang="zh-TW" altLang="en-US" dirty="0"/>
              <a:t>結束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D74B7-DAB4-4A42-B17E-3845ACB2441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9590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12E93-9CC0-7E3F-710E-1A83F925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31A6B0A-16E0-5BF6-FC0E-948549F77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0B36BEF-E665-3237-7359-FDAEAC636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dones</a:t>
            </a:r>
            <a:r>
              <a:rPr lang="zh-TW" altLang="en-US" dirty="0"/>
              <a:t>這一步結束後是否 </a:t>
            </a:r>
            <a:r>
              <a:rPr lang="en-US" altLang="zh-TW" dirty="0"/>
              <a:t>episode </a:t>
            </a:r>
            <a:r>
              <a:rPr lang="zh-TW" altLang="en-US" dirty="0"/>
              <a:t>結束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009694-C596-A681-619E-688678127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D74B7-DAB4-4A42-B17E-3845ACB2441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2900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D9C094E6-B049-76FE-641B-BA43DD137F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67163"/>
            <a:ext cx="9144000" cy="77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報告人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XXX</a:t>
            </a:r>
            <a:endParaRPr lang="zh-TW" alt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E8996D6-0528-4158-A422-41CE9D17F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8DF9D585-4206-49F2-9019-26BD69D4D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8806"/>
            <a:ext cx="10515600" cy="782031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493397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F01BF5-4A00-2123-532F-568A822BCA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r>
              <a:rPr lang="en-US" altLang="zh-TW" dirty="0"/>
              <a:t>(</a:t>
            </a:r>
            <a:r>
              <a:rPr lang="zh-TW" altLang="en-US" dirty="0"/>
              <a:t>單列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2038B3-1E81-A26E-82FF-E8ABA776E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8653A2-F1A7-8CBC-8223-196D181C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29876BA5-00AF-462B-A903-D115F4805676}" type="datetime1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05A167-DA6B-99A4-0191-4B985CDE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EAE2AB-6B5D-8690-E186-D81B46D7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844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F01BF5-4A00-2123-532F-568A822BCA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230919"/>
          </a:xfrm>
        </p:spPr>
        <p:txBody>
          <a:bodyPr/>
          <a:lstStyle/>
          <a:p>
            <a:r>
              <a:rPr lang="zh-TW" altLang="en-US" dirty="0"/>
              <a:t>按一下以編輯母片標題樣式 </a:t>
            </a:r>
            <a:r>
              <a:rPr lang="en-US" altLang="zh-TW" dirty="0"/>
              <a:t>(</a:t>
            </a:r>
            <a:r>
              <a:rPr lang="zh-TW" altLang="en-US" dirty="0"/>
              <a:t>兩列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2038B3-1E81-A26E-82FF-E8ABA776E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4109"/>
            <a:ext cx="10515600" cy="447285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8653A2-F1A7-8CBC-8223-196D181C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E233E682-A641-48B0-BA52-9B3EE07DDFC9}" type="datetime1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05A167-DA6B-99A4-0191-4B985CDE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EAE2AB-6B5D-8690-E186-D81B46D7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229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30CC55-1BC5-2255-A79B-66FEB7734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188720"/>
            <a:ext cx="10515600" cy="202709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dirty="0"/>
              <a:t>按一下以編輯母片標題樣式</a:t>
            </a: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章節名稱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8A85C7-8BA4-34AD-58B6-1BFDF321B6F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429001"/>
            <a:ext cx="10515600" cy="26606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  <a:r>
              <a:rPr lang="en-US" altLang="zh-TW" dirty="0"/>
              <a:t>(</a:t>
            </a:r>
            <a:r>
              <a:rPr lang="zh-TW" altLang="en-US" dirty="0"/>
              <a:t>章節子標題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8068AF-373D-0E81-F361-4A35A803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08E13CF4-5206-4F26-9ED2-D415E1EDA996}" type="datetime1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F9E28F-EC8A-B15C-57E1-E5135249E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8E9B25-BF95-9D1B-BFE2-2E13AA89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3953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03E8B9-F981-471E-4616-F8300D010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E6CCAD-CFDC-D70A-EA0F-1ED6A1A559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50230B1-8190-1866-B26F-1D6DE662B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4EE9FB1-950D-5CDE-83F3-BCB267AF66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97855673-6F0B-466E-B790-8C08C0899092}" type="datetime1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4C0B2B9-F1FE-6B87-34B4-9AA99B7B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8F1930-0C31-2243-53F2-C105906E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5021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44212F-8300-AC7E-2B30-561F282F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21D10E-F90C-0B22-CB98-9A9E14827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BCF49A7-321F-CF2C-37E5-055754E11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F9CD4E2-FA67-5ADC-37CF-00663870B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01CDEED-488C-6A1E-0932-C93670CA0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1D11845-3277-04A7-F7E5-05C47E93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16842F19-B244-4E96-A40E-03BDB08570B9}" type="datetime1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ED645C5-881C-EE9C-A22A-42BCDCA4D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D959F7A-28A3-57D3-6FE0-E62C006F0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81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FE5C9B-8A8F-8439-95D8-F36ACDC2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33723FA-F460-254C-E3E9-DC23125719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1D95BE60-0F14-4894-916E-9EDD44D06C24}" type="datetime1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49C9FC3-7DAA-2B98-93D9-C4274AF6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D7295A-5927-9E6E-AC75-A9C95094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633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2B2BE4D-AFDC-40D5-3EEA-D251E1E2E5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C63D27B7-C44C-4095-9ECB-58332D3E82F4}" type="datetime1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CAA7AD7-5702-221C-F8BE-6B0BDC9C2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059B40-8CFD-84AD-0679-3D782544F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308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A8229B-44F3-E0D3-9A36-6252E3A69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B8B2F9-BC8C-4977-BAE1-CDB084E8A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C490357-E774-DE36-DF14-F9855CDB8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DDD03BD-F34F-2FC6-653D-20AB8A3B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FEFD95EF-A787-49BA-9BDF-9653EA3228E8}" type="datetime1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7146414-37BF-50E2-A000-828305646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9E776C-7A8E-F068-FA8F-525573C5E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19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F48F29-A81D-8869-B241-E516A6A97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4A12BBE-7B0C-0B3E-CC89-E06A02D8AF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EE5D9A-6DCD-CD5E-2A1D-997D371C9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2D9028-7A08-AC67-A17E-7964C8CA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F49E2FDE-8526-460D-9887-E4173C4F279F}" type="datetime1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FE10921-25CB-E188-08B1-F75E967AD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3F8574-F781-AA4E-9DBE-1AF99FC1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9344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A1738B-46C6-D3F1-4020-473DC6D9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12ECB6-628B-DC53-0512-6193B9BB1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9A5D85-385F-92CC-7CA5-27015C3E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5AEF9580-FA40-4B9E-8386-D831EB3465B3}" type="datetime1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DB467C-1EB3-DDB2-13B4-04D279DE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00C449-E4BE-FCE8-C313-354FB821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8164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442AD7F-8B11-A498-B3CB-8B5C59985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BA29A25-3E9B-31DA-E6EC-EB6327A85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EF5E18-A058-C37A-70C8-C4F39C84B7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663748B3-EBB5-4F8A-829F-03AAB62D74D0}" type="datetime1">
              <a:rPr lang="zh-TW" altLang="en-US" smtClean="0"/>
              <a:t>2026/1/7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53D349-8B9C-B643-3511-42C396F78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80E214-D9E5-A020-D430-73CA31A79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428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0BAE070-C38B-0E10-4C30-ECF564BB65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C56E31-3793-A158-8E95-9B0ADADA5CB8}"/>
              </a:ext>
            </a:extLst>
          </p:cNvPr>
          <p:cNvSpPr/>
          <p:nvPr userDrawn="1"/>
        </p:nvSpPr>
        <p:spPr>
          <a:xfrm>
            <a:off x="33252" y="274320"/>
            <a:ext cx="955964" cy="1005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80428C5-F9A1-0BAC-EE02-37763B20A087}"/>
              </a:ext>
            </a:extLst>
          </p:cNvPr>
          <p:cNvSpPr txBox="1"/>
          <p:nvPr userDrawn="1"/>
        </p:nvSpPr>
        <p:spPr>
          <a:xfrm>
            <a:off x="4668289" y="3013501"/>
            <a:ext cx="28554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800" dirty="0"/>
              <a:t>感謝聆聽</a:t>
            </a:r>
          </a:p>
        </p:txBody>
      </p:sp>
    </p:spTree>
    <p:extLst>
      <p:ext uri="{BB962C8B-B14F-4D97-AF65-F5344CB8AC3E}">
        <p14:creationId xmlns:p14="http://schemas.microsoft.com/office/powerpoint/2010/main" val="2215072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6D28AE5-5E75-FC8C-ACEF-474034B46D7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77C6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B68738E-4753-FCD8-226D-D0A5015A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39892B-EFD3-F0F5-344E-F244DA917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38596"/>
            <a:ext cx="10515600" cy="4938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F481A33-E789-1A5A-0EEB-639743C8B07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0" y="552324"/>
            <a:ext cx="755046" cy="42703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45DBD222-C62F-0888-70DF-F04E5578A59D}"/>
              </a:ext>
            </a:extLst>
          </p:cNvPr>
          <p:cNvSpPr txBox="1"/>
          <p:nvPr userDrawn="1"/>
        </p:nvSpPr>
        <p:spPr>
          <a:xfrm>
            <a:off x="10749935" y="6480355"/>
            <a:ext cx="1469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2025/01/07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40EBC5-A1C0-0A54-C99C-B033C8B1049F}"/>
              </a:ext>
            </a:extLst>
          </p:cNvPr>
          <p:cNvSpPr/>
          <p:nvPr userDrawn="1"/>
        </p:nvSpPr>
        <p:spPr>
          <a:xfrm>
            <a:off x="60460" y="6476006"/>
            <a:ext cx="266611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8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Advanced IC Design Lab</a:t>
            </a:r>
            <a:endParaRPr lang="zh-TW" altLang="en-US" sz="18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7C2058-9F0D-C4CD-AC3D-14567556B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fld id="{6BAE6746-4B9B-4F4C-A03B-C24956263DD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4168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387661-FB54-D5AF-9CAF-78228123C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ctr"/>
            <a:r>
              <a:rPr lang="en-US" altLang="zh-TW" dirty="0"/>
              <a:t>1008</a:t>
            </a:r>
            <a:br>
              <a:rPr lang="en-US" altLang="zh-TW" dirty="0"/>
            </a:br>
            <a:r>
              <a:rPr lang="zh-TW" altLang="en-US" dirty="0"/>
              <a:t>指定題乒乓球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986B1AF-837B-2475-E259-632E14B28E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報告人</a:t>
            </a:r>
            <a:r>
              <a:rPr lang="en-US" altLang="zh-TW" dirty="0"/>
              <a:t>:</a:t>
            </a:r>
            <a:r>
              <a:rPr lang="zh-TW" altLang="en-US" dirty="0"/>
              <a:t>劉正偉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DF3760-9748-8796-89EE-E56EEF55E0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fld id="{6BAE6746-4B9B-4F4C-A03B-C24956263DDC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7893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97197F-D6BB-44E1-8B57-5F69D119B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028587-BEB4-44F4-900B-B38A83896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系統規格</a:t>
            </a:r>
            <a:endParaRPr lang="en-US" altLang="zh-TW" dirty="0"/>
          </a:p>
          <a:p>
            <a:r>
              <a:rPr lang="zh-TW" altLang="en-US" dirty="0"/>
              <a:t>系統拆解</a:t>
            </a:r>
            <a:r>
              <a:rPr lang="en-US" altLang="zh-TW" dirty="0"/>
              <a:t>(Breakdown)</a:t>
            </a:r>
          </a:p>
          <a:p>
            <a:r>
              <a:rPr lang="en-US" altLang="zh-TW" dirty="0"/>
              <a:t>API(</a:t>
            </a:r>
            <a:r>
              <a:rPr lang="zh-TW" altLang="en-US" dirty="0"/>
              <a:t>主要函式與使用說明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流程圖說明</a:t>
            </a:r>
            <a:endParaRPr lang="en-US" altLang="zh-TW" dirty="0"/>
          </a:p>
          <a:p>
            <a:r>
              <a:rPr lang="zh-TW" altLang="en-US" dirty="0"/>
              <a:t>驗收</a:t>
            </a: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lvl="1"/>
            <a:endParaRPr lang="en-US" altLang="zh-TW" dirty="0"/>
          </a:p>
          <a:p>
            <a:pPr lvl="2"/>
            <a:endParaRPr lang="en-US" altLang="zh-TW" dirty="0">
              <a:solidFill>
                <a:srgbClr val="FF0000"/>
              </a:solidFill>
            </a:endParaRPr>
          </a:p>
          <a:p>
            <a:pPr lvl="2"/>
            <a:endParaRPr lang="en-US" altLang="zh-TW" dirty="0">
              <a:solidFill>
                <a:srgbClr val="FF0000"/>
              </a:solidFill>
            </a:endParaRPr>
          </a:p>
          <a:p>
            <a:pPr lvl="1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C26C48-9995-473F-99FB-F6B2DFBA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487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9D9978-D15C-4B17-D7EF-860E8F129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系統規格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AB8A80-5F3F-72FE-A53F-157973B49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作業系統</a:t>
            </a:r>
            <a:r>
              <a:rPr lang="en-US" altLang="zh-TW" dirty="0"/>
              <a:t>:Windows11</a:t>
            </a:r>
          </a:p>
          <a:p>
            <a:r>
              <a:rPr lang="en-US" altLang="zh-TW" dirty="0"/>
              <a:t>Python</a:t>
            </a:r>
            <a:r>
              <a:rPr lang="zh-TW" altLang="en-US" dirty="0"/>
              <a:t>版本</a:t>
            </a:r>
            <a:r>
              <a:rPr lang="en-US" altLang="zh-TW" dirty="0"/>
              <a:t>:3.9</a:t>
            </a:r>
            <a:r>
              <a:rPr lang="zh-TW" altLang="en-US" dirty="0"/>
              <a:t>以上</a:t>
            </a:r>
            <a:endParaRPr lang="en-US" altLang="zh-TW" dirty="0"/>
          </a:p>
          <a:p>
            <a:r>
              <a:rPr lang="zh-TW" altLang="en-US" dirty="0"/>
              <a:t>使用套件</a:t>
            </a:r>
            <a:endParaRPr lang="en-US" altLang="zh-TW" dirty="0"/>
          </a:p>
          <a:p>
            <a:pPr lvl="1"/>
            <a:r>
              <a:rPr lang="en-US" altLang="zh-TW" dirty="0"/>
              <a:t>NumPy</a:t>
            </a:r>
            <a:r>
              <a:rPr lang="zh-TW" altLang="en-US" dirty="0"/>
              <a:t>（數值運算、狀態表示）</a:t>
            </a:r>
            <a:endParaRPr lang="en-US" altLang="zh-TW" dirty="0"/>
          </a:p>
          <a:p>
            <a:pPr lvl="1"/>
            <a:r>
              <a:rPr lang="en-US" altLang="zh-TW" dirty="0" err="1"/>
              <a:t>Pytorch</a:t>
            </a:r>
            <a:endParaRPr lang="en-US" altLang="zh-TW" dirty="0"/>
          </a:p>
          <a:p>
            <a:pPr lvl="1"/>
            <a:r>
              <a:rPr lang="en-US" altLang="zh-TW" dirty="0" err="1"/>
              <a:t>MLGame</a:t>
            </a:r>
            <a:r>
              <a:rPr lang="en-US" altLang="zh-TW" dirty="0"/>
              <a:t> + </a:t>
            </a:r>
            <a:r>
              <a:rPr lang="en-US" altLang="zh-TW" dirty="0" err="1"/>
              <a:t>pygame</a:t>
            </a:r>
            <a:r>
              <a:rPr lang="zh-TW" altLang="en-US" dirty="0"/>
              <a:t>（實際對打 </a:t>
            </a:r>
            <a:r>
              <a:rPr lang="en-US" altLang="zh-TW" dirty="0"/>
              <a:t>/ </a:t>
            </a:r>
            <a:r>
              <a:rPr lang="zh-TW" altLang="en-US" dirty="0"/>
              <a:t>視覺化）</a:t>
            </a:r>
            <a:endParaRPr lang="en-US" altLang="zh-TW" dirty="0"/>
          </a:p>
          <a:p>
            <a:pPr lvl="1"/>
            <a:r>
              <a:rPr lang="en-US" altLang="zh-TW" dirty="0"/>
              <a:t>Matplotlib</a:t>
            </a:r>
            <a:r>
              <a:rPr lang="zh-TW" altLang="en-US" dirty="0"/>
              <a:t>（訓練結果分析）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062D73-091A-2948-6452-C0721B6B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246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26F42D-0283-CEBE-C54A-89DC6630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系統拆解</a:t>
            </a:r>
            <a:r>
              <a:rPr lang="en-US" altLang="zh-TW"/>
              <a:t>(Breakdown)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CEBA96-B31B-EDC2-D10F-AA47B3677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5540831E-7496-AA21-F379-409CB7AB2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616" y="1231780"/>
            <a:ext cx="6817348" cy="5176471"/>
          </a:xfrm>
        </p:spPr>
      </p:pic>
    </p:spTree>
    <p:extLst>
      <p:ext uri="{BB962C8B-B14F-4D97-AF65-F5344CB8AC3E}">
        <p14:creationId xmlns:p14="http://schemas.microsoft.com/office/powerpoint/2010/main" val="546377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EDA1D8-84EA-FF01-6D8D-9AB26C062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API from train.py</a:t>
            </a:r>
            <a:endParaRPr lang="zh-TW" altLang="en-US" dirty="0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4EC61BFC-8876-8E3A-342F-300F99C742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3759609"/>
              </p:ext>
            </p:extLst>
          </p:nvPr>
        </p:nvGraphicFramePr>
        <p:xfrm>
          <a:off x="323273" y="1238249"/>
          <a:ext cx="10935856" cy="4548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1127">
                  <a:extLst>
                    <a:ext uri="{9D8B030D-6E8A-4147-A177-3AD203B41FA5}">
                      <a16:colId xmlns:a16="http://schemas.microsoft.com/office/drawing/2014/main" val="1994420041"/>
                    </a:ext>
                  </a:extLst>
                </a:gridCol>
                <a:gridCol w="2336801">
                  <a:extLst>
                    <a:ext uri="{9D8B030D-6E8A-4147-A177-3AD203B41FA5}">
                      <a16:colId xmlns:a16="http://schemas.microsoft.com/office/drawing/2014/main" val="2340504305"/>
                    </a:ext>
                  </a:extLst>
                </a:gridCol>
                <a:gridCol w="2733964">
                  <a:extLst>
                    <a:ext uri="{9D8B030D-6E8A-4147-A177-3AD203B41FA5}">
                      <a16:colId xmlns:a16="http://schemas.microsoft.com/office/drawing/2014/main" val="733070460"/>
                    </a:ext>
                  </a:extLst>
                </a:gridCol>
                <a:gridCol w="2733964">
                  <a:extLst>
                    <a:ext uri="{9D8B030D-6E8A-4147-A177-3AD203B41FA5}">
                      <a16:colId xmlns:a16="http://schemas.microsoft.com/office/drawing/2014/main" val="1754503606"/>
                    </a:ext>
                  </a:extLst>
                </a:gridCol>
              </a:tblGrid>
              <a:tr h="433469">
                <a:tc>
                  <a:txBody>
                    <a:bodyPr/>
                    <a:lstStyle/>
                    <a:p>
                      <a:r>
                        <a:rPr lang="en-US" altLang="zh-TW" dirty="0"/>
                        <a:t>function</a:t>
                      </a:r>
                      <a:r>
                        <a:rPr lang="zh-TW" altLang="en-US" dirty="0"/>
                        <a:t>名稱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input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Output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使用方法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143439"/>
                  </a:ext>
                </a:extLst>
              </a:tr>
              <a:tr h="6060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ActorCritic</a:t>
                      </a: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 )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ball_x</a:t>
                      </a:r>
                      <a:r>
                        <a:rPr lang="en-US" altLang="zh-TW" dirty="0"/>
                        <a:t>, </a:t>
                      </a:r>
                      <a:r>
                        <a:rPr lang="en-US" altLang="zh-TW" dirty="0" err="1"/>
                        <a:t>ball_y</a:t>
                      </a:r>
                      <a:r>
                        <a:rPr lang="en-US" altLang="zh-TW" dirty="0"/>
                        <a:t>,</a:t>
                      </a:r>
                    </a:p>
                    <a:p>
                      <a:r>
                        <a:rPr lang="en-US" altLang="zh-TW" dirty="0"/>
                        <a:t>  </a:t>
                      </a:r>
                      <a:r>
                        <a:rPr lang="en-US" altLang="zh-TW" dirty="0" err="1"/>
                        <a:t>ball_vx,ball_vy</a:t>
                      </a:r>
                      <a:r>
                        <a:rPr lang="en-US" altLang="zh-TW" dirty="0"/>
                        <a:t>,</a:t>
                      </a:r>
                    </a:p>
                    <a:p>
                      <a:r>
                        <a:rPr lang="en-US" altLang="zh-TW" dirty="0"/>
                        <a:t>  </a:t>
                      </a:r>
                      <a:r>
                        <a:rPr lang="en-US" altLang="zh-TW" dirty="0" err="1"/>
                        <a:t>self_paddle_x</a:t>
                      </a:r>
                      <a:r>
                        <a:rPr lang="en-US" altLang="zh-TW" dirty="0"/>
                        <a:t>,</a:t>
                      </a:r>
                    </a:p>
                    <a:p>
                      <a:r>
                        <a:rPr lang="en-US" altLang="zh-TW" dirty="0"/>
                        <a:t>  </a:t>
                      </a:r>
                      <a:r>
                        <a:rPr lang="en-US" altLang="zh-TW" dirty="0" err="1"/>
                        <a:t>opponent_paddle_x</a:t>
                      </a:r>
                      <a:r>
                        <a:rPr lang="en-US" altLang="zh-TW" dirty="0"/>
                        <a:t>,</a:t>
                      </a:r>
                    </a:p>
                    <a:p>
                      <a:r>
                        <a:rPr lang="en-US" altLang="zh-TW" dirty="0"/>
                        <a:t>  </a:t>
                      </a:r>
                      <a:r>
                        <a:rPr lang="en-US" altLang="zh-TW" dirty="0" err="1"/>
                        <a:t>blocker_x</a:t>
                      </a:r>
                      <a:r>
                        <a:rPr lang="en-US" altLang="zh-TW" dirty="0"/>
                        <a:t>,</a:t>
                      </a:r>
                    </a:p>
                    <a:p>
                      <a:r>
                        <a:rPr lang="en-US" altLang="zh-TW" dirty="0"/>
                        <a:t>  </a:t>
                      </a:r>
                      <a:r>
                        <a:rPr lang="en-US" altLang="zh-TW" dirty="0" err="1"/>
                        <a:t>served_flag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dirty="0"/>
                    </a:p>
                    <a:p>
                      <a:r>
                        <a:rPr lang="en-US" altLang="zh-TW" dirty="0" err="1"/>
                        <a:t>logits:float</a:t>
                      </a:r>
                      <a:endParaRPr lang="en-US" altLang="zh-TW" dirty="0"/>
                    </a:p>
                    <a:p>
                      <a:r>
                        <a:rPr lang="en-US" altLang="zh-TW" dirty="0" err="1"/>
                        <a:t>value:float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以狀態向量作為輸入，透過共享網路提取特徵後，同時輸出動作策略的 </a:t>
                      </a:r>
                      <a:r>
                        <a:rPr lang="en-US" altLang="zh-TW" dirty="0"/>
                        <a:t>logits</a:t>
                      </a:r>
                      <a:r>
                        <a:rPr lang="zh-TW" altLang="en-US" dirty="0"/>
                        <a:t>（</a:t>
                      </a:r>
                      <a:r>
                        <a:rPr lang="en-US" altLang="zh-TW" dirty="0"/>
                        <a:t>Policy</a:t>
                      </a:r>
                      <a:r>
                        <a:rPr lang="zh-TW" altLang="en-US" dirty="0"/>
                        <a:t>）以及狀態價值估計（</a:t>
                      </a:r>
                      <a:r>
                        <a:rPr lang="en-US" altLang="zh-TW" dirty="0"/>
                        <a:t>Value</a:t>
                      </a:r>
                      <a:r>
                        <a:rPr lang="zh-TW" altLang="en-US" dirty="0"/>
                        <a:t>）。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826146"/>
                  </a:ext>
                </a:extLst>
              </a:tr>
              <a:tr h="433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compute_gae</a:t>
                      </a: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 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rewards, values, </a:t>
                      </a:r>
                      <a:r>
                        <a:rPr lang="en-US" altLang="zh-TW" dirty="0" err="1"/>
                        <a:t>dones</a:t>
                      </a:r>
                      <a:r>
                        <a:rPr lang="en-US" altLang="zh-TW" dirty="0"/>
                        <a:t>,</a:t>
                      </a:r>
                    </a:p>
                    <a:p>
                      <a:r>
                        <a:rPr lang="en-US" altLang="zh-TW" dirty="0" err="1"/>
                        <a:t>last_value</a:t>
                      </a:r>
                      <a:r>
                        <a:rPr lang="en-US" altLang="zh-TW" dirty="0"/>
                        <a:t>, gamma, lam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advantages:np.ndarray</a:t>
                      </a:r>
                      <a:endParaRPr lang="en-US" altLang="zh-TW" dirty="0"/>
                    </a:p>
                    <a:p>
                      <a:r>
                        <a:rPr lang="en-US" altLang="zh-TW" dirty="0" err="1"/>
                        <a:t>returns:np.ndarray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算每一步的 </a:t>
                      </a:r>
                      <a:r>
                        <a:rPr lang="en-US" altLang="zh-TW" dirty="0"/>
                        <a:t>Advantage </a:t>
                      </a:r>
                      <a:r>
                        <a:rPr lang="zh-TW" altLang="en-US" dirty="0"/>
                        <a:t>與 </a:t>
                      </a:r>
                      <a:r>
                        <a:rPr lang="en-US" altLang="zh-TW" dirty="0"/>
                        <a:t>Return</a:t>
                      </a:r>
                      <a:r>
                        <a:rPr lang="zh-TW" altLang="en-US" dirty="0"/>
                        <a:t>，以降低 </a:t>
                      </a:r>
                      <a:r>
                        <a:rPr lang="en-US" altLang="zh-TW" dirty="0"/>
                        <a:t>policy gradient </a:t>
                      </a:r>
                      <a:r>
                        <a:rPr lang="zh-TW" altLang="en-US" dirty="0"/>
                        <a:t>的方差並提升訓練穩定性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785082"/>
                  </a:ext>
                </a:extLst>
              </a:tr>
              <a:tr h="433469"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ppo_update</a:t>
                      </a:r>
                      <a:r>
                        <a:rPr lang="en-US" altLang="zh-TW" dirty="0"/>
                        <a:t>( 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model, optimizer, </a:t>
                      </a:r>
                      <a:r>
                        <a:rPr lang="en-US" altLang="zh-TW" dirty="0" err="1"/>
                        <a:t>obs_tensor</a:t>
                      </a:r>
                      <a:r>
                        <a:rPr lang="en-US" altLang="zh-TW" dirty="0"/>
                        <a:t>, </a:t>
                      </a:r>
                      <a:r>
                        <a:rPr lang="en-US" altLang="zh-TW" dirty="0" err="1"/>
                        <a:t>act_tensor</a:t>
                      </a:r>
                      <a:r>
                        <a:rPr lang="en-US" altLang="zh-TW" dirty="0"/>
                        <a:t>,</a:t>
                      </a:r>
                    </a:p>
                    <a:p>
                      <a:r>
                        <a:rPr lang="en-US" altLang="zh-TW" dirty="0" err="1"/>
                        <a:t>ret_tensor</a:t>
                      </a:r>
                      <a:r>
                        <a:rPr lang="en-US" altLang="zh-TW" dirty="0"/>
                        <a:t>, </a:t>
                      </a:r>
                      <a:r>
                        <a:rPr lang="en-US" altLang="zh-TW" dirty="0" err="1"/>
                        <a:t>adv_tensor</a:t>
                      </a:r>
                      <a:r>
                        <a:rPr lang="en-US" altLang="zh-TW" dirty="0"/>
                        <a:t>,</a:t>
                      </a:r>
                    </a:p>
                    <a:p>
                      <a:r>
                        <a:rPr lang="en-US" altLang="zh-TW" dirty="0" err="1"/>
                        <a:t>oldlog_tensor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none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用一批 </a:t>
                      </a:r>
                      <a:r>
                        <a:rPr lang="en-US" altLang="zh-TW" dirty="0"/>
                        <a:t>rollout </a:t>
                      </a:r>
                      <a:r>
                        <a:rPr lang="zh-TW" altLang="en-US" dirty="0"/>
                        <a:t>資料，對 </a:t>
                      </a:r>
                      <a:r>
                        <a:rPr lang="en-US" altLang="zh-TW" dirty="0"/>
                        <a:t>Actor-Critic </a:t>
                      </a:r>
                      <a:r>
                        <a:rPr lang="zh-TW" altLang="en-US" dirty="0"/>
                        <a:t>模型做多輪 </a:t>
                      </a:r>
                      <a:r>
                        <a:rPr lang="en-US" altLang="zh-TW" dirty="0"/>
                        <a:t>PPO </a:t>
                      </a:r>
                      <a:r>
                        <a:rPr lang="zh-TW" altLang="en-US" dirty="0"/>
                        <a:t>更新（</a:t>
                      </a:r>
                      <a:r>
                        <a:rPr lang="en-US" altLang="zh-TW" dirty="0"/>
                        <a:t>policy + value</a:t>
                      </a:r>
                      <a:r>
                        <a:rPr lang="zh-TW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807280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416A4F-7598-7444-5328-BD99DBAAC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781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7B7E2-870A-DBFE-00C4-9857DF2E8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0AD0F7-794D-5087-2C0F-0473393FF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API from ml_play_pytorch_XP.py</a:t>
            </a:r>
            <a:endParaRPr lang="zh-TW" altLang="en-US" dirty="0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F5042770-0981-FEF3-7C5C-916D55073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853330"/>
              </p:ext>
            </p:extLst>
          </p:nvPr>
        </p:nvGraphicFramePr>
        <p:xfrm>
          <a:off x="323273" y="1238249"/>
          <a:ext cx="10935856" cy="3769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1127">
                  <a:extLst>
                    <a:ext uri="{9D8B030D-6E8A-4147-A177-3AD203B41FA5}">
                      <a16:colId xmlns:a16="http://schemas.microsoft.com/office/drawing/2014/main" val="1994420041"/>
                    </a:ext>
                  </a:extLst>
                </a:gridCol>
                <a:gridCol w="2336801">
                  <a:extLst>
                    <a:ext uri="{9D8B030D-6E8A-4147-A177-3AD203B41FA5}">
                      <a16:colId xmlns:a16="http://schemas.microsoft.com/office/drawing/2014/main" val="2340504305"/>
                    </a:ext>
                  </a:extLst>
                </a:gridCol>
                <a:gridCol w="2733964">
                  <a:extLst>
                    <a:ext uri="{9D8B030D-6E8A-4147-A177-3AD203B41FA5}">
                      <a16:colId xmlns:a16="http://schemas.microsoft.com/office/drawing/2014/main" val="733070460"/>
                    </a:ext>
                  </a:extLst>
                </a:gridCol>
                <a:gridCol w="2733964">
                  <a:extLst>
                    <a:ext uri="{9D8B030D-6E8A-4147-A177-3AD203B41FA5}">
                      <a16:colId xmlns:a16="http://schemas.microsoft.com/office/drawing/2014/main" val="1754503606"/>
                    </a:ext>
                  </a:extLst>
                </a:gridCol>
              </a:tblGrid>
              <a:tr h="433469">
                <a:tc>
                  <a:txBody>
                    <a:bodyPr/>
                    <a:lstStyle/>
                    <a:p>
                      <a:r>
                        <a:rPr lang="en-US" altLang="zh-TW" dirty="0"/>
                        <a:t>function</a:t>
                      </a:r>
                      <a:r>
                        <a:rPr lang="zh-TW" altLang="en-US" dirty="0"/>
                        <a:t>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input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Output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使用方法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143439"/>
                  </a:ext>
                </a:extLst>
              </a:tr>
              <a:tr h="6060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update(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scene_info</a:t>
                      </a:r>
                      <a:r>
                        <a:rPr lang="en-US" altLang="zh-TW" dirty="0"/>
                        <a:t>: </a:t>
                      </a:r>
                      <a:r>
                        <a:rPr lang="en-US" altLang="zh-TW" dirty="0" err="1"/>
                        <a:t>dict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action:str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MLGame</a:t>
                      </a:r>
                      <a:r>
                        <a:rPr lang="en-US" altLang="zh-TW" dirty="0"/>
                        <a:t> </a:t>
                      </a:r>
                      <a:r>
                        <a:rPr lang="zh-TW" altLang="en-US" dirty="0"/>
                        <a:t>會自動每幀呼叫 </a:t>
                      </a:r>
                      <a:endParaRPr lang="en-US" altLang="zh-TW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en-US" dirty="0"/>
                        <a:t>讀 </a:t>
                      </a:r>
                      <a:r>
                        <a:rPr lang="en-US" altLang="zh-TW" dirty="0" err="1"/>
                        <a:t>scene_info</a:t>
                      </a:r>
                      <a:endParaRPr lang="en-US" altLang="zh-TW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en-US" dirty="0"/>
                        <a:t>決策</a:t>
                      </a:r>
                      <a:endParaRPr lang="en-US" altLang="zh-TW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en-US" dirty="0"/>
                        <a:t>回傳指令字串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826146"/>
                  </a:ext>
                </a:extLst>
              </a:tr>
              <a:tr h="4334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_</a:t>
                      </a:r>
                      <a:r>
                        <a:rPr lang="en-US" altLang="zh-TW" dirty="0" err="1"/>
                        <a:t>is_served</a:t>
                      </a:r>
                      <a:r>
                        <a:rPr lang="en-US" altLang="zh-TW" dirty="0"/>
                        <a:t>()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scene_info</a:t>
                      </a:r>
                      <a:r>
                        <a:rPr lang="en-US" altLang="zh-TW" dirty="0"/>
                        <a:t>: </a:t>
                      </a:r>
                      <a:r>
                        <a:rPr lang="en-US" altLang="zh-TW" dirty="0" err="1"/>
                        <a:t>dict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True or </a:t>
                      </a:r>
                      <a:r>
                        <a:rPr lang="en-US" altLang="zh-TW" dirty="0" err="1"/>
                        <a:t>False:bool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兼容不同版本 </a:t>
                      </a:r>
                      <a:r>
                        <a:rPr lang="en-US" altLang="zh-TW" dirty="0" err="1"/>
                        <a:t>scene_info</a:t>
                      </a:r>
                      <a:r>
                        <a:rPr lang="en-US" altLang="zh-TW" dirty="0"/>
                        <a:t> </a:t>
                      </a:r>
                      <a:r>
                        <a:rPr lang="zh-TW" altLang="en-US" dirty="0"/>
                        <a:t>格式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785082"/>
                  </a:ext>
                </a:extLst>
              </a:tr>
              <a:tr h="433469">
                <a:tc>
                  <a:txBody>
                    <a:bodyPr/>
                    <a:lstStyle/>
                    <a:p>
                      <a:r>
                        <a:rPr lang="en-US" altLang="zh-TW" dirty="0"/>
                        <a:t>_</a:t>
                      </a:r>
                      <a:r>
                        <a:rPr lang="en-US" altLang="zh-TW" dirty="0" err="1"/>
                        <a:t>make_obs</a:t>
                      </a:r>
                      <a:r>
                        <a:rPr lang="en-US" altLang="zh-TW" dirty="0"/>
                        <a:t>()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scene_info</a:t>
                      </a:r>
                      <a:r>
                        <a:rPr lang="en-US" altLang="zh-TW" dirty="0"/>
                        <a:t>: </a:t>
                      </a:r>
                      <a:r>
                        <a:rPr lang="en-US" altLang="zh-TW" dirty="0" err="1"/>
                        <a:t>dict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obs</a:t>
                      </a:r>
                      <a:r>
                        <a:rPr lang="en-US" altLang="zh-TW" dirty="0"/>
                        <a:t>: </a:t>
                      </a:r>
                      <a:r>
                        <a:rPr lang="en-US" altLang="zh-TW" dirty="0" err="1"/>
                        <a:t>np.ndarray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內容為 </a:t>
                      </a:r>
                      <a:r>
                        <a:rPr lang="en-US" altLang="zh-TW" dirty="0"/>
                        <a:t>normalize </a:t>
                      </a:r>
                      <a:r>
                        <a:rPr lang="zh-TW" altLang="en-US" dirty="0"/>
                        <a:t>後的 </a:t>
                      </a:r>
                      <a:r>
                        <a:rPr lang="en-US" altLang="zh-TW" dirty="0"/>
                        <a:t>8 </a:t>
                      </a:r>
                      <a:r>
                        <a:rPr lang="zh-TW" altLang="en-US" dirty="0"/>
                        <a:t>維狀態向量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807280"/>
                  </a:ext>
                </a:extLst>
              </a:tr>
              <a:tr h="433469">
                <a:tc>
                  <a:txBody>
                    <a:bodyPr/>
                    <a:lstStyle/>
                    <a:p>
                      <a:r>
                        <a:rPr lang="en-US" altLang="zh-TW" dirty="0"/>
                        <a:t>_</a:t>
                      </a:r>
                      <a:r>
                        <a:rPr lang="en-US" altLang="zh-TW" dirty="0" err="1"/>
                        <a:t>select_action</a:t>
                      </a:r>
                      <a:r>
                        <a:rPr lang="en-US" altLang="zh-TW" dirty="0"/>
                        <a:t>()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obs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act: int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推論動作選擇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152783"/>
                  </a:ext>
                </a:extLst>
              </a:tr>
              <a:tr h="433469">
                <a:tc>
                  <a:txBody>
                    <a:bodyPr/>
                    <a:lstStyle/>
                    <a:p>
                      <a:r>
                        <a:rPr lang="en-US" altLang="zh-TW" dirty="0"/>
                        <a:t>forward()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logits: </a:t>
                      </a:r>
                      <a:r>
                        <a:rPr lang="en-US" altLang="zh-TW" dirty="0" err="1"/>
                        <a:t>torch.Tensor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用 </a:t>
                      </a:r>
                      <a:r>
                        <a:rPr lang="en-US" altLang="zh-TW" dirty="0"/>
                        <a:t>logits </a:t>
                      </a:r>
                      <a:r>
                        <a:rPr lang="zh-TW" altLang="en-US" dirty="0"/>
                        <a:t>來選動作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853622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C64580-B195-08F6-3A3E-5522C662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98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4402B-8804-66EA-7DBC-84828288D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流程圖說明</a:t>
            </a:r>
            <a:r>
              <a:rPr lang="en-US" altLang="zh-TW" dirty="0"/>
              <a:t>_</a:t>
            </a:r>
            <a:r>
              <a:rPr lang="zh-TW" altLang="en-US" dirty="0"/>
              <a:t>訓練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5CE312-4D11-3EA9-3DC1-A1B35B36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2F0110C5-314F-B12F-9934-8146ED1D0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00" y="1574006"/>
            <a:ext cx="5105400" cy="4267200"/>
          </a:xfrm>
        </p:spPr>
      </p:pic>
    </p:spTree>
    <p:extLst>
      <p:ext uri="{BB962C8B-B14F-4D97-AF65-F5344CB8AC3E}">
        <p14:creationId xmlns:p14="http://schemas.microsoft.com/office/powerpoint/2010/main" val="105350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B2FF32-8F89-BFFA-DDEE-F14F1E09F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流程圖說明</a:t>
            </a:r>
            <a:r>
              <a:rPr lang="en-US" altLang="zh-TW" dirty="0"/>
              <a:t>_</a:t>
            </a:r>
            <a:r>
              <a:rPr lang="zh-TW" altLang="en-US" dirty="0"/>
              <a:t>推論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50F7200-7FBB-E489-81C9-5A726CACF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612" y="1283494"/>
            <a:ext cx="4676775" cy="4848225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12E38F-C137-879D-3107-08A6A02B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410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B84C3F-4A4D-2C83-16CE-B3DF5422A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驗收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744EC9-DC4E-EF80-5949-9AAC5D69F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功能驗收</a:t>
            </a:r>
            <a:endParaRPr lang="en-US" altLang="zh-TW" dirty="0"/>
          </a:p>
          <a:p>
            <a:pPr lvl="1"/>
            <a:r>
              <a:rPr lang="en-US" altLang="zh-TW" dirty="0"/>
              <a:t>1P/2P</a:t>
            </a:r>
            <a:r>
              <a:rPr lang="zh-TW" altLang="en-US" dirty="0"/>
              <a:t>使用</a:t>
            </a:r>
            <a:r>
              <a:rPr lang="en-US" altLang="zh-TW" dirty="0"/>
              <a:t>.pt</a:t>
            </a:r>
            <a:r>
              <a:rPr lang="zh-TW" altLang="en-US" dirty="0"/>
              <a:t>模型</a:t>
            </a:r>
            <a:endParaRPr lang="en-US" altLang="zh-TW" dirty="0"/>
          </a:p>
          <a:p>
            <a:pPr lvl="1"/>
            <a:r>
              <a:rPr lang="zh-TW" altLang="en-US" dirty="0"/>
              <a:t>基本功能</a:t>
            </a:r>
            <a:r>
              <a:rPr lang="en-US" altLang="zh-TW" dirty="0"/>
              <a:t>:1P/2P</a:t>
            </a:r>
            <a:r>
              <a:rPr lang="zh-TW" altLang="en-US" dirty="0"/>
              <a:t>在遊戲啟動後不會報錯跳出，且能進行發球與擊球</a:t>
            </a:r>
            <a:endParaRPr lang="en-US" altLang="zh-TW" dirty="0"/>
          </a:p>
          <a:p>
            <a:r>
              <a:rPr lang="zh-TW" altLang="en-US" dirty="0"/>
              <a:t>目標功能</a:t>
            </a:r>
            <a:endParaRPr lang="en-US" altLang="zh-TW" dirty="0"/>
          </a:p>
          <a:p>
            <a:pPr lvl="1"/>
            <a:r>
              <a:rPr lang="en-US" altLang="zh-TW" dirty="0"/>
              <a:t>1P/2P</a:t>
            </a:r>
            <a:r>
              <a:rPr lang="zh-TW" altLang="en-US" dirty="0"/>
              <a:t>能進行數回合對打或是在得分數上</a:t>
            </a:r>
            <a:r>
              <a:rPr lang="en-US" altLang="zh-TW" dirty="0"/>
              <a:t>55</a:t>
            </a:r>
            <a:r>
              <a:rPr lang="zh-TW" altLang="en-US" dirty="0"/>
              <a:t>開</a:t>
            </a: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5A9901-A197-EEB4-1DF4-A95456F4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6290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A05AD0-3A68-2B32-88C0-F0475A3B6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E6746-4B9B-4F4C-A03B-C24956263DDC}" type="slidenum">
              <a:rPr lang="zh-TW" altLang="en-US" smtClean="0"/>
              <a:pPr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88113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510_簡報範本.potx" id="{7555636D-B705-42EF-9DC8-3C04D7F75E29}" vid="{B06CFE22-9D52-4AEE-B755-1C1721328D0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B510_簡報範本</Template>
  <TotalTime>1163</TotalTime>
  <Words>453</Words>
  <Application>Microsoft Office PowerPoint</Application>
  <PresentationFormat>寬螢幕</PresentationFormat>
  <Paragraphs>100</Paragraphs>
  <Slides>10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佈景主題</vt:lpstr>
      <vt:lpstr>1008 指定題乒乓球</vt:lpstr>
      <vt:lpstr>Outline</vt:lpstr>
      <vt:lpstr>系統規格</vt:lpstr>
      <vt:lpstr>系統拆解(Breakdown)</vt:lpstr>
      <vt:lpstr>API from train.py</vt:lpstr>
      <vt:lpstr>API from ml_play_pytorch_XP.py</vt:lpstr>
      <vt:lpstr>流程圖說明_訓練</vt:lpstr>
      <vt:lpstr>流程圖說明_推論</vt:lpstr>
      <vt:lpstr>驗收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0808 Weekly Meeting</dc:title>
  <dc:creator>鄭 彥禎</dc:creator>
  <cp:lastModifiedBy>B510</cp:lastModifiedBy>
  <cp:revision>53</cp:revision>
  <dcterms:created xsi:type="dcterms:W3CDTF">2024-07-10T10:41:46Z</dcterms:created>
  <dcterms:modified xsi:type="dcterms:W3CDTF">2026-01-07T09:47:15Z</dcterms:modified>
</cp:coreProperties>
</file>